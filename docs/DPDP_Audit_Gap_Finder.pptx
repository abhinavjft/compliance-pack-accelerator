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DPDP Audit Gap Finder</a:t>
            </a:r>
            <a:br/>
            <a:r>
              <a:t>&amp; Consent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Calibri"/>
              </a:defRPr>
            </a:pPr>
            <a:r>
              <a:t>A Databricks-native compliance platform for India's Digital Personal Data Protection Act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508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Built on: Unity Catalog  |  Agent Bricks  |  Lakeflow  |  Delta Lake  |  AI/BI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The DPDP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Digital Personal Data Protection Act 2023 exposes every Indian enterprise to material regulatory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62828"/>
                </a:solidFill>
                <a:latin typeface="Calibri"/>
              </a:defRPr>
            </a:pPr>
            <a:r>
              <a:t>Up to ₹250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per contravention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Penalty for non-compliance with</a:t>
            </a:r>
            <a:br/>
            <a:r>
              <a:t>consent, rights, or security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5100"/>
                </a:solidFill>
                <a:latin typeface="Calibri"/>
              </a:defRPr>
            </a:pPr>
            <a:r>
              <a:t>72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breach notification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Clock starts whether or not the</a:t>
            </a:r>
            <a:br/>
            <a:r>
              <a:t>organization knows who is affected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Annual DPIA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for Significant Data Fiduciaries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Must reflect current processing,</a:t>
            </a:r>
            <a:br/>
            <a:r>
              <a:t>not a 6-month-old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The operational reality today: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Personal data sits across 40+ source systems — no single register exists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Consent is captured as a Terms &amp; Conditions acceptance that predates the Act's specificity requirement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Data subject rights are handled manually through legal inboxes with multi-week SLAs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No organization can reproduce historical processing decisions under regulator 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Most Enterprises Look Like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Can't Find Their PII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Personal data across CRM, HRMS, databases,</a:t>
            </a:r>
            <a:br/>
            <a:r>
              <a:t>SaaS apps, file shares — no unified inventory.</a:t>
            </a:r>
            <a:br/>
            <a:r>
              <a:t>Compliance team doesn't know what they 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0292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Consent Is a Checkbox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Legacy T&amp;C acceptance predates DPDP's</a:t>
            </a:r>
            <a:br/>
            <a:r>
              <a:t>specificity requirement. No per-purpose</a:t>
            </a:r>
            <a:br/>
            <a:r>
              <a:t>granularity. No withdrawal mechanism.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79"/>
            <a:ext cx="50292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No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199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Cannot reproduce historical decisions</a:t>
            </a:r>
            <a:br/>
            <a:r>
              <a:t>under regulator inspection. No evidence</a:t>
            </a:r>
            <a:br/>
            <a:r>
              <a:t>of when consent was given or revoked.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79"/>
            <a:ext cx="50292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148C"/>
                </a:solidFill>
                <a:latin typeface="Calibri"/>
              </a:defRPr>
            </a:pPr>
            <a:r>
              <a:t>Manual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199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DSRs via legal inbox (weeks). DPIA as</a:t>
            </a:r>
            <a:br/>
            <a:r>
              <a:t>a document project (months). Compliance</a:t>
            </a:r>
            <a:br/>
            <a:r>
              <a:t>reporting as a quarterly fire drill.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Our Solution: Three Integrated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One platform, one audit trail — built entirely on Databricks-native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PII Discovery &amp;</a:t>
            </a:r>
            <a:br/>
            <a:r>
              <a:t>Data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Automatically scan every data source</a:t>
            </a:r>
            <a:br/>
            <a:r>
              <a:t>for personal data using regex patterns</a:t>
            </a:r>
            <a:br/>
            <a:r>
              <a:t>+ AI classification. Living register</a:t>
            </a:r>
            <a:br/>
            <a:r>
              <a:t>with UC column tags and lineage.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2926080" cy="8229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33 PII findings</a:t>
            </a:r>
            <a:br/>
            <a:r>
              <a:t>14 auto-classified</a:t>
            </a:r>
            <a:br/>
            <a:r>
              <a:t>5 tables · 21.5K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565C0"/>
                </a:solidFill>
                <a:latin typeface="Calibri"/>
              </a:defRPr>
            </a:pPr>
            <a:r>
              <a:t>Consent Intelligence</a:t>
            </a:r>
            <a:br/>
            <a: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Capture every consent event with</a:t>
            </a:r>
            <a:br/>
            <a:r>
              <a:t>purpose-level granularity. Immutable</a:t>
            </a:r>
            <a:br/>
            <a:r>
              <a:t>Delta log. Real-time withdrawal</a:t>
            </a:r>
            <a:br/>
            <a:r>
              <a:t>propagation to downstream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840480"/>
            <a:ext cx="29260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1,000 events</a:t>
            </a:r>
            <a:br/>
            <a:r>
              <a:t>292 principals</a:t>
            </a:r>
            <a:br/>
            <a:r>
              <a:t>6 purposes · 4 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148C"/>
                </a:solidFill>
                <a:latin typeface="Calibri"/>
              </a:defRPr>
            </a:pPr>
            <a:r>
              <a:t>Compliance Audit &amp;</a:t>
            </a:r>
            <a:br/>
            <a:r>
              <a:t>Gap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 DPDP compliance rules mapped</a:t>
            </a:r>
            <a:br/>
            <a:r>
              <a:t>against discovered PII. Penalty-weighted</a:t>
            </a:r>
            <a:br/>
            <a:r>
              <a:t>risk scoring. Remediation tracker</a:t>
            </a:r>
            <a:br/>
            <a:r>
              <a:t>with specific actions per 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840480"/>
            <a:ext cx="2926080" cy="82296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886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148C"/>
                </a:solidFill>
                <a:latin typeface="Calibri"/>
              </a:defRPr>
            </a:pPr>
            <a:r>
              <a:t>135 gaps detected</a:t>
            </a:r>
            <a:br/>
            <a:r>
              <a:t>72 critical · 52 high</a:t>
            </a:r>
            <a:br/>
            <a:r>
              <a:t>9 rules · 5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Calibri"/>
              </a:defRPr>
            </a:pPr>
            <a:r>
              <a:t>+ Agent Bricks: DPIA auto-generation in 30 seconds  |  Compliance Q&amp;A in natural language  |  AI classification for unstructured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[ Insert architecture diagram screenshot from docs/architecture.html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Full interactive diagram: docs/architecture.html  |  Print to PDF: Cmd+P in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Why Databricks-Native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Every component uses a Databricks platform feature — zero custom plumbing.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Single governance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PII column tags, auto lineage, audit log,</a:t>
            </a:r>
            <a:br/>
            <a:r>
              <a:t>foreign catalogs, sensitivity tiers,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separate metadata stores,</a:t>
            </a:r>
            <a:br/>
            <a:r>
              <a:t>manual lineage, custom tag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Agent Bricks + AI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AI-powered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DPIA in 30s, Compliance Q&amp;A,</a:t>
            </a:r>
            <a:br/>
            <a:r>
              <a:t>ai_classify for unstructured PII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3-month manual DPIA,</a:t>
            </a:r>
            <a:br/>
            <a:r>
              <a:t>SQL-only access, manual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Lakehouse Federation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Connect any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CREATE FOREIGN CATALOG — one SQL</a:t>
            </a:r>
            <a:br/>
            <a:r>
              <a:t>for Postgres, Snowflake, BigQuery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28 Python connectors</a:t>
            </a:r>
            <a:br/>
            <a:r>
              <a:t>(400K lines of custom code)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Lakeflow DLT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Declarative pipelines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Bronze → Silver with data quality</a:t>
            </a:r>
            <a:br/>
            <a:r>
              <a:t>rules, CDC, schema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standalone notebooks,</a:t>
            </a:r>
            <a:br/>
            <a:r>
              <a:t>manual orchestration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Delta Lake (CDF)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Immutable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4709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Consent log, time travel, withdrawal</a:t>
            </a:r>
            <a:br/>
            <a:r>
              <a:t>propagation, regulator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5349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separate OLTP +</a:t>
            </a:r>
            <a:br/>
            <a:r>
              <a:t>audit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Calibri"/>
              </a:defRPr>
            </a:pPr>
            <a:r>
              <a:t>Databricks Asset Bundle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3F"/>
                </a:solidFill>
                <a:latin typeface="Calibri"/>
              </a:defRPr>
            </a:pPr>
            <a:r>
              <a:t>Infrastructure as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09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One command deploy, one destroy.</a:t>
            </a:r>
            <a:br/>
            <a:r>
              <a:t>CI/CD ready, version controlled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49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Replaces: shell scripts, manual</a:t>
            </a:r>
            <a:br/>
            <a:r>
              <a:t>notebook imports, click-ops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Bricks — The AI Differentiator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148C"/>
                </a:solidFill>
                <a:latin typeface="Calibri"/>
              </a:defRPr>
            </a:pPr>
            <a:r>
              <a:t>DPIA Auto-Generator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Reads UC metadata + pii_findings + compliance_gaps +</a:t>
            </a:r>
            <a:br/>
            <a:r>
              <a:t>consent coverage → structured DPIA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63040"/>
            <a:ext cx="274320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600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3 months → 30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Generates specific table names, column names,</a:t>
            </a:r>
            <a:br/>
            <a:r>
              <a:t>gap counts, DPDP section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Compliance Q&amp;A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Natural language interface to the compliance data estate.</a:t>
            </a:r>
            <a:br/>
            <a:r>
              <a:t>"What critical PII do we hold in HRMS?"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3200400"/>
            <a:ext cx="274320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337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SQL expertise → plain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Context-aware routing to PII, consent, gap,</a:t>
            </a:r>
            <a:br/>
            <a:r>
              <a:t>and principal-specific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10698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95C"/>
                </a:solidFill>
                <a:latin typeface="Calibri"/>
              </a:defRPr>
            </a:pPr>
            <a:r>
              <a:t>PII Classifier (AI Functions)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79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ai_classify for unstructured fields: diagnosis,</a:t>
            </a:r>
            <a:br/>
            <a:r>
              <a:t>prescriptions, clinical notes, free-text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937759"/>
            <a:ext cx="274320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50749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Manual review → 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2919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Handles what regex patterns cannot.</a:t>
            </a:r>
            <a:br/>
            <a:r>
              <a:t>Classifies into DPDP categories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Model: databricks-gpt-oss-120b (open-source, hosted on Databricks)  |  All data stays within the workspace  |  No external API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on Databricks —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Every number below is queryable in the workspace. No mockups.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21,500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Rows Ingested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5 source tables in Bronze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4592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PII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Across 9 DPDP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64592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Auto-Classified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UC tags applied (≥85% conf)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64592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Compliance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72 critical · 52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64592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288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Consent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292 principals · 6 purposes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286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Marketing Eligible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Real-time from Gold 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402336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Compliance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Mapped to DPDP sections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02336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Executive to detail level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02336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DPIA · Q&amp;A · Classifier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4023360"/>
            <a:ext cx="2011680" cy="19202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4206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3621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DPIA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From UC metadata (was 3 months)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Connecting to Real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Three Databricks-native patterns replace 28 Python connectors and 400K lines of custom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95C"/>
                </a:solidFill>
                <a:latin typeface="Calibri"/>
              </a:defRPr>
            </a:pPr>
            <a:r>
              <a:t>Lakehouse Federation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3F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Postgres · MySQL · SQL Server</a:t>
            </a:r>
            <a:br/>
            <a:r>
              <a:t>Snowflake · BigQuery · Redshift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474720"/>
            <a:ext cx="320040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95C"/>
                </a:solidFill>
                <a:latin typeface="Calibri"/>
              </a:defRPr>
            </a:pPr>
            <a:r>
              <a:t>CREATE FOREIGN CATALOG</a:t>
            </a:r>
            <a:br/>
            <a:r>
              <a:t>USING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Query in-place</a:t>
            </a:r>
            <a:br/>
            <a:r>
              <a:t>No data movement</a:t>
            </a:r>
            <a:br/>
            <a:r>
              <a:t>UC-governed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Lakeflow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3F"/>
                </a:solidFill>
                <a:latin typeface="Calibri"/>
              </a:defRPr>
            </a:pPr>
            <a:r>
              <a:t>SaaS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Salesforce · Workday · ServiceNow</a:t>
            </a:r>
            <a:br/>
            <a:r>
              <a:t>SharePoint · MongoDB · HubSpot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19" y="3474720"/>
            <a:ext cx="320040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Managed ingestion pipeline</a:t>
            </a:r>
            <a:br/>
            <a:r>
              <a:t>UI or SQL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Schema evolution</a:t>
            </a:r>
            <a:br/>
            <a:r>
              <a:t>CDC built-in</a:t>
            </a:r>
            <a:br/>
            <a:r>
              <a:t>No pip installs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148C"/>
                </a:solidFill>
                <a:latin typeface="Calibri"/>
              </a:defRPr>
            </a:pPr>
            <a:r>
              <a:t>Auto Loader + Volumes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3F"/>
                </a:solidFill>
                <a:latin typeface="Calibri"/>
              </a:defRPr>
            </a:pPr>
            <a:r>
              <a:t>File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S3 · ADLS · GCS</a:t>
            </a:r>
            <a:br/>
            <a:r>
              <a:t>CSV · JSON · Parquet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474720"/>
            <a:ext cx="3200400" cy="731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520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148C"/>
                </a:solidFill>
                <a:latin typeface="Calibri"/>
              </a:defRPr>
            </a:pPr>
            <a:r>
              <a:t>cloudFiles format</a:t>
            </a:r>
            <a:br/>
            <a:r>
              <a:t>in DLT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Incremental</a:t>
            </a:r>
            <a:br/>
            <a:r>
              <a:t>Exactly-once</a:t>
            </a:r>
            <a:br/>
            <a:r>
              <a:t>Schema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Stakeholder Dashboard — 10 Pages, Live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[ Insert dashboard screenshot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3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Risk score · Compliance score · PII by sensitivity</a:t>
            </a:r>
            <a:br/>
            <a:r>
              <a:t>Gaps by rule type · High-risk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303520" cy="3840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[ Insert dashboard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3F"/>
                </a:solidFill>
                <a:latin typeface="Calibri"/>
              </a:defRPr>
            </a:pPr>
            <a:r>
              <a:t>PII Inventory &amp; Compliance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486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Full register · Category breakdown</a:t>
            </a:r>
            <a:br/>
            <a:r>
              <a:t>Remediation priorities · Gap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Live dashboard with Genie NL queries  |  Every widget backed by real data in Unity Catalog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Expansion Path —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architecture is designed to grow. Each phase adds modules without re-architecture.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Connect Real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Connect client's actual CRM/HRMS via</a:t>
            </a:r>
            <a:br/>
            <a:r>
              <a:t>Lakehouse Federation or Lakeflow Connect.</a:t>
            </a:r>
            <a:br/>
            <a:r>
              <a:t>Re-run PII scan against real data.</a:t>
            </a:r>
            <a:br/>
            <a:r>
              <a:t>Immediate compliance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Data Subject Rights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DSR portal (Databricks App).</a:t>
            </a:r>
            <a:br/>
            <a:r>
              <a:t>UC lineage-based discovery.</a:t>
            </a:r>
            <a:br/>
            <a:r>
              <a:t>Delta DELETE + VACUUM erasure.</a:t>
            </a:r>
            <a:br/>
            <a:r>
              <a:t>Erasure certificate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510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Lakewatch agentic SIEM</a:t>
            </a:r>
            <a:br/>
            <a:r>
              <a:t>(post Private Preview).</a:t>
            </a:r>
            <a:br/>
            <a:r>
              <a:t>72-hour alerting workflow.</a:t>
            </a:r>
            <a:br/>
            <a:r>
              <a:t>Agent Bricks DPBI notification.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148C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Retention &amp;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Lakebase for consent OLTP.</a:t>
            </a:r>
            <a:br/>
            <a:r>
              <a:t>Crypto-shredding for backups.</a:t>
            </a:r>
            <a:br/>
            <a:r>
              <a:t>Cross-border transfer monitoring.</a:t>
            </a:r>
            <a:br/>
            <a:r>
              <a:t>Full six-module platform.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Current POC  ────────►  Phase 1 (4 weeks)  ────────►  Phase 2 (8 weeks)  ────────►  Phase 3-4 (12 weeks)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 Architecture sign-off from Databricks SA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 Joint identification of a pilot customer with DPDP urgency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 Phase 1 scoping: connect one real data source, re-run the full pipeline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 Timeline: 4-week Phase 1 sprint to production-ready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The platform is live on Databricks. The architecture is clean. The demo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